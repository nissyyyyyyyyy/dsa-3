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Title: </a:t>
            </a:r>
            <a:r>
              <a:rPr lang="en-IN" sz="4000" dirty="0"/>
              <a:t>Dictionary-Based Misspelled Word Detection System</a:t>
            </a:r>
            <a:endParaRPr lang="en-US" sz="40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0160" y="3513524"/>
            <a:ext cx="4551284" cy="1396014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</a:t>
            </a:r>
          </a:p>
          <a:p>
            <a:pPr lvl="0"/>
            <a:r>
              <a:rPr lang="en-IN" sz="1800" dirty="0"/>
              <a:t>Hansika Reddy </a:t>
            </a:r>
            <a:r>
              <a:rPr lang="en-IN" sz="1800" dirty="0" err="1"/>
              <a:t>Gunapati</a:t>
            </a:r>
            <a:r>
              <a:rPr lang="en-IN" sz="1800" dirty="0"/>
              <a:t> : 2520030237 </a:t>
            </a:r>
          </a:p>
          <a:p>
            <a:pPr lvl="0"/>
            <a:r>
              <a:rPr lang="en-IN" sz="1800" dirty="0" err="1"/>
              <a:t>Adoori</a:t>
            </a:r>
            <a:r>
              <a:rPr lang="en-IN" sz="1800" dirty="0"/>
              <a:t> Teja Hasini Reddy : 2520030048 </a:t>
            </a:r>
          </a:p>
          <a:p>
            <a:pPr lvl="0"/>
            <a:r>
              <a:rPr lang="en-IN" sz="1800" dirty="0"/>
              <a:t>Anthony Nissy : 2520030064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>
              <a:spcAft>
                <a:spcPts val="800"/>
              </a:spcAft>
            </a:pPr>
            <a:r>
              <a:rPr lang="en-IN" sz="1800" dirty="0"/>
              <a:t>Dr. S. Madhavi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CDC4A7-8CEC-9892-B648-8BBED72D0200}"/>
              </a:ext>
            </a:extLst>
          </p:cNvPr>
          <p:cNvSpPr txBox="1"/>
          <p:nvPr/>
        </p:nvSpPr>
        <p:spPr>
          <a:xfrm>
            <a:off x="477520" y="1400256"/>
            <a:ext cx="1123696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/>
              <a:t>The </a:t>
            </a:r>
            <a:r>
              <a:rPr lang="en-IN" sz="2400" b="1" dirty="0"/>
              <a:t>Dictionary-Based Misspelled Word Detection System</a:t>
            </a:r>
            <a:r>
              <a:rPr lang="en-IN" sz="2400" dirty="0"/>
              <a:t> is a text-processing application designed to identify spelling errors in documents, log files, and user-generated text. The system compares input words with a predefined dictionary and uses efficient data structures such as </a:t>
            </a:r>
            <a:r>
              <a:rPr lang="en-IN" sz="2400" b="1" dirty="0"/>
              <a:t>Trie, Aho–</a:t>
            </a:r>
            <a:r>
              <a:rPr lang="en-IN" sz="2400" b="1" dirty="0" err="1"/>
              <a:t>Corasick</a:t>
            </a:r>
            <a:r>
              <a:rPr lang="en-IN" sz="2400" b="1" dirty="0"/>
              <a:t>, and Suffix Arrays</a:t>
            </a:r>
            <a:r>
              <a:rPr lang="en-IN" sz="2400" dirty="0"/>
              <a:t> for faster searching.</a:t>
            </a:r>
          </a:p>
          <a:p>
            <a:pPr>
              <a:buNone/>
            </a:pPr>
            <a:r>
              <a:rPr lang="en-IN" sz="2400" dirty="0"/>
              <a:t>When an unknown word is detected, </a:t>
            </a:r>
            <a:r>
              <a:rPr lang="en-IN" sz="2400" b="1" dirty="0" err="1"/>
              <a:t>Levenshtein</a:t>
            </a:r>
            <a:r>
              <a:rPr lang="en-IN" sz="2400" b="1" dirty="0"/>
              <a:t> Edit Distance, Soundex, and Metaphone</a:t>
            </a:r>
            <a:r>
              <a:rPr lang="en-IN" sz="2400" dirty="0"/>
              <a:t> are used to generate and rank possible corrections. The system produces a structured error report and supports </a:t>
            </a:r>
            <a:r>
              <a:rPr lang="en-IN" sz="2400" b="1" dirty="0"/>
              <a:t>Unicode and multilingual text</a:t>
            </a:r>
            <a:r>
              <a:rPr lang="en-IN" sz="2400" dirty="0"/>
              <a:t>, demonstrating the practical application of Data Structures and Algorithms in real-world text processing. </a:t>
            </a:r>
          </a:p>
          <a:p>
            <a:pPr>
              <a:buNone/>
            </a:pPr>
            <a:r>
              <a:rPr lang="en-IN" sz="2400" b="1" dirty="0"/>
              <a:t>Design</a:t>
            </a:r>
          </a:p>
          <a:p>
            <a:pPr>
              <a:buNone/>
            </a:pPr>
            <a:r>
              <a:rPr lang="en-IN" sz="2400" dirty="0"/>
              <a:t>Use </a:t>
            </a:r>
            <a:r>
              <a:rPr lang="en-IN" sz="2400" b="1" dirty="0"/>
              <a:t>one paragraph in a large text box</a:t>
            </a:r>
            <a:r>
              <a:rPr lang="en-IN" sz="2400" dirty="0"/>
              <a:t>.</a:t>
            </a:r>
          </a:p>
          <a:p>
            <a:pPr>
              <a:buNone/>
            </a:pPr>
            <a:r>
              <a:rPr lang="en-IN" sz="2400" dirty="0"/>
              <a:t>On the right side, put a small visual:</a:t>
            </a:r>
          </a:p>
          <a:p>
            <a:pPr>
              <a:buNone/>
            </a:pPr>
            <a:r>
              <a:rPr lang="en-IN" sz="2400" b="1" dirty="0"/>
              <a:t>Input Text → Dictionary Search → Error Detection → Correction Suggestion → Report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D671B2-B990-2780-08E2-A94DD408D022}"/>
              </a:ext>
            </a:extLst>
          </p:cNvPr>
          <p:cNvSpPr txBox="1"/>
          <p:nvPr/>
        </p:nvSpPr>
        <p:spPr>
          <a:xfrm>
            <a:off x="558800" y="1129943"/>
            <a:ext cx="1109472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/>
              <a:t>Spelling mistakes frequently occur in documents, user input, logs, and digital text. These errors can reduce readability, cause misunderstanding, and affect automated text-processing systems.</a:t>
            </a:r>
          </a:p>
          <a:p>
            <a:pPr>
              <a:buNone/>
            </a:pPr>
            <a:r>
              <a:rPr lang="en-IN" sz="2400" dirty="0"/>
              <a:t>Traditional spellcheckers may become inefficient when each input word is compared individually against a large dictionary. Our project addresses this problem by combining efficient </a:t>
            </a:r>
            <a:r>
              <a:rPr lang="en-IN" sz="2400" b="1" dirty="0"/>
              <a:t>data structures and string-matching algorithms</a:t>
            </a:r>
            <a:r>
              <a:rPr lang="en-IN" sz="2400" dirty="0"/>
              <a:t> to perform faster dictionary searching.</a:t>
            </a:r>
          </a:p>
          <a:p>
            <a:pPr>
              <a:buNone/>
            </a:pPr>
            <a:r>
              <a:rPr lang="en-IN" sz="2400" b="1" dirty="0"/>
              <a:t>Key Technologies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Trie</a:t>
            </a:r>
            <a:r>
              <a:rPr lang="en-IN" sz="2400" dirty="0"/>
              <a:t> – Fast word and prefix lookup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Aho–</a:t>
            </a:r>
            <a:r>
              <a:rPr lang="en-IN" sz="2400" b="1" dirty="0" err="1"/>
              <a:t>Corasick</a:t>
            </a:r>
            <a:r>
              <a:rPr lang="en-IN" sz="2400" dirty="0"/>
              <a:t> – Multi-pattern matching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Suffix Array</a:t>
            </a:r>
            <a:r>
              <a:rPr lang="en-IN" sz="2400" dirty="0"/>
              <a:t> – Partial and substring searching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Edit Distance</a:t>
            </a:r>
            <a:r>
              <a:rPr lang="en-IN" sz="2400" dirty="0"/>
              <a:t> – Correction suggestions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Soundex / Metaphone</a:t>
            </a:r>
            <a:r>
              <a:rPr lang="en-IN" sz="2400" dirty="0"/>
              <a:t> – Phonetic matching </a:t>
            </a:r>
          </a:p>
          <a:p>
            <a:pPr>
              <a:buNone/>
            </a:pPr>
            <a:r>
              <a:rPr lang="en-IN" sz="2400" dirty="0"/>
              <a:t>This is much better than putting the entire introduction into bullets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37BFF8-31DA-66B2-8A5E-295662A7604D}"/>
              </a:ext>
            </a:extLst>
          </p:cNvPr>
          <p:cNvSpPr txBox="1"/>
          <p:nvPr/>
        </p:nvSpPr>
        <p:spPr>
          <a:xfrm>
            <a:off x="772160" y="1357204"/>
            <a:ext cx="107696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000" b="1" dirty="0"/>
              <a:t>Dictionary-Based Methods:</a:t>
            </a:r>
            <a:r>
              <a:rPr lang="en-IN" sz="2000" dirty="0"/>
              <a:t> Use predefined dictionaries to identify valid and invalid words in the input text and provide a basic foundation for spellchecking. </a:t>
            </a:r>
          </a:p>
          <a:p>
            <a:pPr lvl="0"/>
            <a:r>
              <a:rPr lang="en-IN" sz="2000" b="1" dirty="0"/>
              <a:t>Trie:</a:t>
            </a:r>
            <a:r>
              <a:rPr lang="en-IN" sz="2000" dirty="0"/>
              <a:t> Enables fast word and prefix searching, making dictionary lookup and word validation more efficient. </a:t>
            </a:r>
          </a:p>
          <a:p>
            <a:pPr lvl="0"/>
            <a:r>
              <a:rPr lang="en-IN" sz="2000" b="1" dirty="0"/>
              <a:t>Aho–</a:t>
            </a:r>
            <a:r>
              <a:rPr lang="en-IN" sz="2000" b="1" dirty="0" err="1"/>
              <a:t>Corasick</a:t>
            </a:r>
            <a:r>
              <a:rPr lang="en-IN" sz="2000" b="1" dirty="0"/>
              <a:t>:</a:t>
            </a:r>
            <a:r>
              <a:rPr lang="en-IN" sz="2000" dirty="0"/>
              <a:t> Supports efficient multi-pattern matching while scanning large text datasets for known words and patterns. </a:t>
            </a:r>
          </a:p>
          <a:p>
            <a:pPr lvl="0"/>
            <a:r>
              <a:rPr lang="en-IN" sz="2000" b="1" dirty="0"/>
              <a:t>Suffix Arrays:</a:t>
            </a:r>
            <a:r>
              <a:rPr lang="en-IN" sz="2000" dirty="0"/>
              <a:t> Help perform partial, substring, and pattern-based searches efficiently. </a:t>
            </a:r>
          </a:p>
          <a:p>
            <a:pPr lvl="0"/>
            <a:r>
              <a:rPr lang="en-IN" sz="2000" b="1" dirty="0"/>
              <a:t>Edit Distance:</a:t>
            </a:r>
            <a:r>
              <a:rPr lang="en-IN" sz="2000" dirty="0"/>
              <a:t> Measures the difference between words and helps generate and rank suitable correction suggestions. </a:t>
            </a:r>
          </a:p>
          <a:p>
            <a:pPr lvl="0"/>
            <a:r>
              <a:rPr lang="en-IN" sz="2000" b="1" dirty="0"/>
              <a:t>Soundex &amp; Metaphone:</a:t>
            </a:r>
            <a:r>
              <a:rPr lang="en-IN" sz="2000" dirty="0"/>
              <a:t> Improve matching by identifying words that have similar pronunciation, even when their spelling differs. </a:t>
            </a:r>
          </a:p>
          <a:p>
            <a:pPr lvl="0"/>
            <a:r>
              <a:rPr lang="en-IN" sz="2000" b="1" dirty="0"/>
              <a:t>Hashing:</a:t>
            </a:r>
            <a:r>
              <a:rPr lang="en-IN" sz="2000" dirty="0"/>
              <a:t> Provides fast dictionary lookup and reduces the time required for repeated word searches. </a:t>
            </a:r>
          </a:p>
          <a:p>
            <a:pPr lvl="0"/>
            <a:r>
              <a:rPr lang="en-IN" sz="2000" b="1" dirty="0"/>
              <a:t>Unicode Processing:</a:t>
            </a:r>
            <a:r>
              <a:rPr lang="en-IN" sz="2000" dirty="0"/>
              <a:t> Allows the system to handle characters and words from different languages and writing systems. </a:t>
            </a:r>
          </a:p>
          <a:p>
            <a:r>
              <a:rPr lang="en-IN" sz="2000" b="1" dirty="0"/>
              <a:t>Key Observation:</a:t>
            </a:r>
            <a:r>
              <a:rPr lang="en-IN" sz="2000" dirty="0"/>
              <a:t> Combining these techniques provides faster searching, better correction suggestions, and improved support for large, multilingual, and Unicode text datasets.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968CD2-A96C-D68C-F416-9EDDD1E202E0}"/>
              </a:ext>
            </a:extLst>
          </p:cNvPr>
          <p:cNvSpPr txBox="1"/>
          <p:nvPr/>
        </p:nvSpPr>
        <p:spPr>
          <a:xfrm>
            <a:off x="825044" y="1240771"/>
            <a:ext cx="10533836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Spelling errors are common in digital text, while traditional dictionary scanning can become slow when processing large dictionaries and text datasets. Therefore, there is a need for an efficient system that can </a:t>
            </a:r>
            <a:r>
              <a:rPr lang="en-IN" sz="2000" b="1" dirty="0"/>
              <a:t>quickly detect misspelled words, generate suitable correction suggestions, and handle large, Unicode, and multilingual datasets</a:t>
            </a:r>
            <a:r>
              <a:rPr lang="en-IN" sz="2000" dirty="0"/>
              <a:t>.</a:t>
            </a:r>
          </a:p>
          <a:p>
            <a:r>
              <a:rPr lang="en-IN" sz="2000" b="1" dirty="0"/>
              <a:t>THE NEED</a:t>
            </a:r>
          </a:p>
          <a:p>
            <a:r>
              <a:rPr lang="en-IN" sz="2000" b="1" dirty="0"/>
              <a:t>Fast Searching</a:t>
            </a:r>
            <a:br>
              <a:rPr lang="en-IN" sz="2000" dirty="0"/>
            </a:br>
            <a:r>
              <a:rPr lang="en-IN" sz="2000" dirty="0"/>
              <a:t>Reduce unnecessary dictionary scanning and improve lookup speed.</a:t>
            </a:r>
          </a:p>
          <a:p>
            <a:r>
              <a:rPr lang="en-IN" sz="2000" b="1" dirty="0"/>
              <a:t>Accurate Detection</a:t>
            </a:r>
            <a:br>
              <a:rPr lang="en-IN" sz="2000" dirty="0"/>
            </a:br>
            <a:r>
              <a:rPr lang="en-IN" sz="2000" dirty="0"/>
              <a:t>Identify words that are absent from the dictionary and detect spelling errors reliably.</a:t>
            </a:r>
          </a:p>
          <a:p>
            <a:r>
              <a:rPr lang="en-IN" sz="2000" b="1" dirty="0"/>
              <a:t>Smart Correction</a:t>
            </a:r>
            <a:br>
              <a:rPr lang="en-IN" sz="2000" dirty="0"/>
            </a:br>
            <a:r>
              <a:rPr lang="en-IN" sz="2000" dirty="0"/>
              <a:t>Generate and rank suitable suggestions based on word similarity.</a:t>
            </a:r>
          </a:p>
          <a:p>
            <a:r>
              <a:rPr lang="en-IN" sz="2000" b="1" dirty="0"/>
              <a:t>Scalability</a:t>
            </a:r>
            <a:br>
              <a:rPr lang="en-IN" sz="2000" dirty="0"/>
            </a:br>
            <a:r>
              <a:rPr lang="en-IN" sz="2000" dirty="0"/>
              <a:t>Handle large and multilingual text datasets efficiently.</a:t>
            </a:r>
          </a:p>
          <a:p>
            <a:r>
              <a:rPr lang="en-IN" sz="2000" b="1" dirty="0"/>
              <a:t>Unicode Support</a:t>
            </a:r>
            <a:br>
              <a:rPr lang="en-IN" sz="2000" dirty="0"/>
            </a:br>
            <a:r>
              <a:rPr lang="en-IN" sz="2000" dirty="0"/>
              <a:t>Process text containing different languages, scripts, and special characters.</a:t>
            </a:r>
          </a:p>
          <a:p>
            <a:r>
              <a:rPr lang="en-IN" sz="2000" b="1" dirty="0"/>
              <a:t>Efficient Processing</a:t>
            </a:r>
            <a:br>
              <a:rPr lang="en-IN" sz="2000" dirty="0"/>
            </a:br>
            <a:r>
              <a:rPr lang="en-IN" sz="2000" dirty="0"/>
              <a:t>Reduce overall processing time while maintaining accurate spellchecking results.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FA660D-D68C-96EE-1F9B-04069DE9C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254" y="1243612"/>
            <a:ext cx="5001491" cy="52181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EA3077-DCD5-E2B4-872C-49681ACE2FC1}"/>
              </a:ext>
            </a:extLst>
          </p:cNvPr>
          <p:cNvSpPr txBox="1"/>
          <p:nvPr/>
        </p:nvSpPr>
        <p:spPr>
          <a:xfrm>
            <a:off x="1239519" y="1209606"/>
            <a:ext cx="971296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/>
              <a:t>The developed system successfully detects misspelled words by comparing input text with a predefined dictionary. Efficient searching techniques such as </a:t>
            </a:r>
            <a:r>
              <a:rPr lang="en-IN" sz="2000" b="1" dirty="0"/>
              <a:t>Trie, Aho–</a:t>
            </a:r>
            <a:r>
              <a:rPr lang="en-IN" sz="2000" b="1" dirty="0" err="1"/>
              <a:t>Corasick</a:t>
            </a:r>
            <a:r>
              <a:rPr lang="en-IN" sz="2000" b="1" dirty="0"/>
              <a:t>, and Suffix Arrays</a:t>
            </a:r>
            <a:r>
              <a:rPr lang="en-IN" sz="2000" dirty="0"/>
              <a:t> help reduce unnecessary dictionary scanning.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Misspelling Detection:</a:t>
            </a:r>
            <a:r>
              <a:rPr lang="en-IN" sz="2000" dirty="0"/>
              <a:t> Identifies words that are not present in the dictionary.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Correction Suggestions:</a:t>
            </a:r>
            <a:r>
              <a:rPr lang="en-IN" sz="2000" dirty="0"/>
              <a:t> Generates suitable alternatives using </a:t>
            </a:r>
            <a:r>
              <a:rPr lang="en-IN" sz="2000" b="1" dirty="0" err="1"/>
              <a:t>Levenshtein</a:t>
            </a:r>
            <a:r>
              <a:rPr lang="en-IN" sz="2000" b="1" dirty="0"/>
              <a:t> Edit Distance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Phonetic Matching:</a:t>
            </a:r>
            <a:r>
              <a:rPr lang="en-IN" sz="2000" dirty="0"/>
              <a:t> Soundex and Metaphone help identify words with similar pronunciation.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Fast Searching:</a:t>
            </a:r>
            <a:r>
              <a:rPr lang="en-IN" sz="2000" dirty="0"/>
              <a:t> Efficient data structures improve dictionary lookup and pattern matching.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Unicode Support:</a:t>
            </a:r>
            <a:r>
              <a:rPr lang="en-IN" sz="2000" dirty="0"/>
              <a:t> Processes text containing different languages and character sets.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Error Reporting:</a:t>
            </a:r>
            <a:r>
              <a:rPr lang="en-IN" sz="2000" dirty="0"/>
              <a:t> Displays detected errors along with possible correction suggestions.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Scalability:</a:t>
            </a:r>
            <a:r>
              <a:rPr lang="en-IN" sz="2000" dirty="0"/>
              <a:t> The approach can be extended to large dictionaries and multilingual text datasets. </a:t>
            </a:r>
          </a:p>
          <a:p>
            <a:pPr>
              <a:buNone/>
            </a:pPr>
            <a:r>
              <a:rPr lang="en-IN" sz="2000" b="1" dirty="0"/>
              <a:t>Overall Result</a:t>
            </a:r>
          </a:p>
          <a:p>
            <a:pPr>
              <a:buNone/>
            </a:pPr>
            <a:r>
              <a:rPr lang="en-IN" sz="2000" dirty="0"/>
              <a:t>The combination of multiple data structures and string-matching techniques provides an </a:t>
            </a:r>
            <a:r>
              <a:rPr lang="en-IN" sz="2000" b="1" dirty="0"/>
              <a:t>efficient, accurate, and scalable approach to spellchecking and correction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63E262-1058-7482-09F3-B519DB931630}"/>
              </a:ext>
            </a:extLst>
          </p:cNvPr>
          <p:cNvSpPr txBox="1"/>
          <p:nvPr/>
        </p:nvSpPr>
        <p:spPr>
          <a:xfrm>
            <a:off x="1097280" y="1231062"/>
            <a:ext cx="999744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Hardware Requirements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Computer/Laptop:</a:t>
            </a:r>
            <a:r>
              <a:rPr lang="en-IN" sz="2000" dirty="0"/>
              <a:t> Used to develop, run, and test the system.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Processor:</a:t>
            </a:r>
            <a:r>
              <a:rPr lang="en-IN" sz="2000" dirty="0"/>
              <a:t> Dual-core processor or higher for efficient processing.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RAM:</a:t>
            </a:r>
            <a:r>
              <a:rPr lang="en-IN" sz="2000" dirty="0"/>
              <a:t> Minimum 4 GB recommended.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Storage:</a:t>
            </a:r>
            <a:r>
              <a:rPr lang="en-IN" sz="2000" dirty="0"/>
              <a:t> Sufficient space for the program, dictionaries, and datasets.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Keyboard &amp; Mouse:</a:t>
            </a:r>
            <a:r>
              <a:rPr lang="en-IN" sz="2000" dirty="0"/>
              <a:t> Used for text input and system interaction. </a:t>
            </a:r>
          </a:p>
          <a:p>
            <a:pPr>
              <a:buNone/>
            </a:pPr>
            <a:r>
              <a:rPr lang="en-IN" sz="2000" b="1" dirty="0"/>
              <a:t>Software Requirements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Operating System:</a:t>
            </a:r>
            <a:r>
              <a:rPr lang="en-IN" sz="2000" dirty="0"/>
              <a:t> Windows / Linux / macOS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Programming Language:</a:t>
            </a:r>
            <a:r>
              <a:rPr lang="en-IN" sz="2000" dirty="0"/>
              <a:t> Python / Java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Data Structures:</a:t>
            </a:r>
            <a:r>
              <a:rPr lang="en-IN" sz="2000" dirty="0"/>
              <a:t> Trie, Suffix Array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String Matching:</a:t>
            </a:r>
            <a:r>
              <a:rPr lang="en-IN" sz="2000" dirty="0"/>
              <a:t> Aho–</a:t>
            </a:r>
            <a:r>
              <a:rPr lang="en-IN" sz="2000" dirty="0" err="1"/>
              <a:t>Corasick</a:t>
            </a:r>
            <a:r>
              <a:rPr lang="en-IN" sz="20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Correction Methods:</a:t>
            </a:r>
            <a:r>
              <a:rPr lang="en-IN" sz="2000" dirty="0"/>
              <a:t> </a:t>
            </a:r>
            <a:r>
              <a:rPr lang="en-IN" sz="2000" dirty="0" err="1"/>
              <a:t>Levenshtein</a:t>
            </a:r>
            <a:r>
              <a:rPr lang="en-IN" sz="2000" dirty="0"/>
              <a:t> Edit Distance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Phonetic Matching:</a:t>
            </a:r>
            <a:r>
              <a:rPr lang="en-IN" sz="2000" dirty="0"/>
              <a:t> Soundex &amp; Metaphone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Input:</a:t>
            </a:r>
            <a:r>
              <a:rPr lang="en-IN" sz="2000" dirty="0"/>
              <a:t> Text files, documents, or user-entered text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Output:</a:t>
            </a:r>
            <a:r>
              <a:rPr lang="en-IN" sz="2000" dirty="0"/>
              <a:t> Detected spelling errors and correction suggestions </a:t>
            </a:r>
          </a:p>
          <a:p>
            <a:pPr>
              <a:buNone/>
            </a:pPr>
            <a:r>
              <a:rPr lang="en-IN" sz="2000" b="1" dirty="0"/>
              <a:t>System Requirement:</a:t>
            </a:r>
            <a:r>
              <a:rPr lang="en-IN" sz="2000" dirty="0"/>
              <a:t> The software is designed to run on a standard computer without requiring specialized hardware.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940BF5-F3D4-3EF9-F9E7-C8C16AA25DF1}"/>
              </a:ext>
            </a:extLst>
          </p:cNvPr>
          <p:cNvSpPr txBox="1"/>
          <p:nvPr/>
        </p:nvSpPr>
        <p:spPr>
          <a:xfrm>
            <a:off x="701040" y="1198880"/>
            <a:ext cx="10911840" cy="5129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The </a:t>
            </a:r>
            <a:r>
              <a:rPr lang="en-IN" sz="2000" b="1" dirty="0"/>
              <a:t>Dictionary-Based Misspelled Word Detection System</a:t>
            </a:r>
            <a:r>
              <a:rPr lang="en-IN" sz="2000" dirty="0"/>
              <a:t> demonstrates how Data Structures and Algorithms can be applied to real-world text processing. The system combines </a:t>
            </a:r>
            <a:r>
              <a:rPr lang="en-IN" sz="2000" b="1" dirty="0"/>
              <a:t>Trie, Aho–</a:t>
            </a:r>
            <a:r>
              <a:rPr lang="en-IN" sz="2000" b="1" dirty="0" err="1"/>
              <a:t>Corasick</a:t>
            </a:r>
            <a:r>
              <a:rPr lang="en-IN" sz="2000" b="1" dirty="0"/>
              <a:t>, Suffix Arrays, Edit Distance, Soundex, and Metaphone</a:t>
            </a:r>
            <a:r>
              <a:rPr lang="en-IN" sz="2000" dirty="0"/>
              <a:t> to efficiently detect spelling errors and generate suitable correction suggestions.</a:t>
            </a:r>
          </a:p>
          <a:p>
            <a:pPr lvl="0"/>
            <a:r>
              <a:rPr lang="en-IN" sz="2000" b="1" dirty="0"/>
              <a:t>Efficient Search:</a:t>
            </a:r>
            <a:r>
              <a:rPr lang="en-IN" sz="2000" dirty="0"/>
              <a:t> Reduces unnecessary dictionary scanning. </a:t>
            </a:r>
          </a:p>
          <a:p>
            <a:pPr lvl="0"/>
            <a:r>
              <a:rPr lang="en-IN" sz="2000" b="1" dirty="0"/>
              <a:t>Accurate Detection:</a:t>
            </a:r>
            <a:r>
              <a:rPr lang="en-IN" sz="2000" dirty="0"/>
              <a:t> Identifies words that are absent from the dictionary. </a:t>
            </a:r>
          </a:p>
          <a:p>
            <a:pPr lvl="0"/>
            <a:r>
              <a:rPr lang="en-IN" sz="2000" b="1" dirty="0"/>
              <a:t>Smart Suggestions:</a:t>
            </a:r>
            <a:r>
              <a:rPr lang="en-IN" sz="2000" dirty="0"/>
              <a:t> Provides suitable corrections based on word similarity. </a:t>
            </a:r>
          </a:p>
          <a:p>
            <a:pPr lvl="0"/>
            <a:r>
              <a:rPr lang="en-IN" sz="2000" b="1" dirty="0"/>
              <a:t>Scalable Processing:</a:t>
            </a:r>
            <a:r>
              <a:rPr lang="en-IN" sz="2000" dirty="0"/>
              <a:t> Supports large, Unicode, and multilingual text datasets. </a:t>
            </a:r>
          </a:p>
          <a:p>
            <a:pPr lvl="0"/>
            <a:r>
              <a:rPr lang="en-IN" sz="2000" b="1" dirty="0"/>
              <a:t>Fast Processing:</a:t>
            </a:r>
            <a:r>
              <a:rPr lang="en-IN" sz="2000" dirty="0"/>
              <a:t> Improves the speed of dictionary lookup and pattern matching. </a:t>
            </a:r>
          </a:p>
          <a:p>
            <a:pPr lvl="0"/>
            <a:r>
              <a:rPr lang="en-IN" sz="2000" b="1" dirty="0"/>
              <a:t>Flexible Design:</a:t>
            </a:r>
            <a:r>
              <a:rPr lang="en-IN" sz="2000" dirty="0"/>
              <a:t> Allows different searching and correction techniques to work together. </a:t>
            </a:r>
          </a:p>
          <a:p>
            <a:pPr lvl="0"/>
            <a:r>
              <a:rPr lang="en-IN" sz="2000" b="1" dirty="0"/>
              <a:t>Practical Application:</a:t>
            </a:r>
            <a:r>
              <a:rPr lang="en-IN" sz="2000" dirty="0"/>
              <a:t> Can be used for documents, logs, and user-generated text. </a:t>
            </a:r>
          </a:p>
          <a:p>
            <a:pPr lvl="0"/>
            <a:r>
              <a:rPr lang="en-IN" sz="2000" b="1" dirty="0"/>
              <a:t>Better Text Quality:</a:t>
            </a:r>
            <a:r>
              <a:rPr lang="en-IN" sz="2000" dirty="0"/>
              <a:t> Helps improve the accuracy and readability of digital content. </a:t>
            </a:r>
          </a:p>
          <a:p>
            <a:pPr lvl="0"/>
            <a:r>
              <a:rPr lang="en-IN" sz="2000" b="1" dirty="0"/>
              <a:t>Modular Approach:</a:t>
            </a:r>
            <a:r>
              <a:rPr lang="en-IN" sz="2000" dirty="0"/>
              <a:t> Individual algorithms can be improved or extended independently. </a:t>
            </a:r>
          </a:p>
          <a:p>
            <a:pPr lvl="0"/>
            <a:r>
              <a:rPr lang="en-IN" sz="2000" b="1" dirty="0"/>
              <a:t>Real-World Relevance:</a:t>
            </a:r>
            <a:r>
              <a:rPr lang="en-IN" sz="2000" dirty="0"/>
              <a:t> Demonstrates practical use of DSA concepts in text-processing applications. </a:t>
            </a:r>
          </a:p>
          <a:p>
            <a:r>
              <a:rPr lang="en-IN" sz="2000" b="1" dirty="0"/>
              <a:t>Overall, the system provides an efficient, practical, scalable, and extensible approach to automated spellchecking.</a:t>
            </a:r>
            <a:endParaRPr lang="en-IN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EDE7B5-84F9-B857-ECB6-FD6BA9A41FBA}"/>
              </a:ext>
            </a:extLst>
          </p:cNvPr>
          <p:cNvSpPr txBox="1"/>
          <p:nvPr/>
        </p:nvSpPr>
        <p:spPr>
          <a:xfrm>
            <a:off x="1412240" y="1281015"/>
            <a:ext cx="967232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The system can be further improved by adding intelligent correction methods and expanding its language and application support.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Context-Aware Correction:</a:t>
            </a:r>
            <a:r>
              <a:rPr lang="en-IN" dirty="0"/>
              <a:t> Use sentence context to select more accurate corrections.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Machine Learning:</a:t>
            </a:r>
            <a:r>
              <a:rPr lang="en-IN" dirty="0"/>
              <a:t> Improve correction ranking using trained language models.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Multilingual Expansion:</a:t>
            </a:r>
            <a:r>
              <a:rPr lang="en-IN" dirty="0"/>
              <a:t> Support more languages and Unicode-based writing systems.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Real-Time Spellchecking:</a:t>
            </a:r>
            <a:r>
              <a:rPr lang="en-IN" dirty="0"/>
              <a:t> Provide suggestions while users type.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Application Integration:</a:t>
            </a:r>
            <a:r>
              <a:rPr lang="en-IN" dirty="0"/>
              <a:t> Integrate with text editors, web applications, and document-processing tools.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Domain-Specific Dictionaries:</a:t>
            </a:r>
            <a:r>
              <a:rPr lang="en-IN" dirty="0"/>
              <a:t> Support technical, medical, academic, and other specialized vocabulary.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Advanced NLP:</a:t>
            </a:r>
            <a:r>
              <a:rPr lang="en-IN" dirty="0"/>
              <a:t> Combine spellchecking with grammar checking and other NLP tasks.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Performance Optimization:</a:t>
            </a:r>
            <a:r>
              <a:rPr lang="en-IN" dirty="0"/>
              <a:t> Improve processing speed for very large text datasets.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Cloud-Based Processing:</a:t>
            </a:r>
            <a:r>
              <a:rPr lang="en-IN" dirty="0"/>
              <a:t> Enable scalable spellchecking for large volumes of online text.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User Personalization:</a:t>
            </a:r>
            <a:r>
              <a:rPr lang="en-IN" dirty="0"/>
              <a:t> Allow users to add custom words and maintain personal dictionaries.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Interactive Interface:</a:t>
            </a:r>
            <a:r>
              <a:rPr lang="en-IN" dirty="0"/>
              <a:t> Develop a user-friendly interface for easier text analysis and correction.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Continuous Learning:</a:t>
            </a:r>
            <a:r>
              <a:rPr lang="en-IN" dirty="0"/>
              <a:t> Improve suggestions by learning from frequently used words and corrections.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API Integration:</a:t>
            </a:r>
            <a:r>
              <a:rPr lang="en-IN" dirty="0"/>
              <a:t> Provide spellchecking functionality that can be integrated into other software applications.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1316</Words>
  <Application>Microsoft Office PowerPoint</Application>
  <PresentationFormat>Widescreen</PresentationFormat>
  <Paragraphs>111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       Data Structures and Algorithms -3 (25CS2103E)  Title: Dictionary-Based Misspelled Word Detection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thanamnissy@gmail.com</cp:lastModifiedBy>
  <cp:revision>21</cp:revision>
  <dcterms:created xsi:type="dcterms:W3CDTF">2024-08-29T05:25:00Z</dcterms:created>
  <dcterms:modified xsi:type="dcterms:W3CDTF">2026-09-29T16:29:51Z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